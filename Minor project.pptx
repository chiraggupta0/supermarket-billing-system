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7" r:id="rId4"/>
  </p:sldMasterIdLst>
  <p:sldIdLst>
    <p:sldId id="257" r:id="rId5"/>
    <p:sldId id="258" r:id="rId6"/>
    <p:sldId id="260" r:id="rId7"/>
    <p:sldId id="262"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87A11B-2B7D-4FD3-AA3E-A5F7A45EA46E}" v="4" dt="2025-04-23T16:18:07.0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76" autoAdjust="0"/>
    <p:restoredTop sz="94660"/>
  </p:normalViewPr>
  <p:slideViewPr>
    <p:cSldViewPr snapToGrid="0">
      <p:cViewPr varScale="1">
        <p:scale>
          <a:sx n="82" d="100"/>
          <a:sy n="82" d="100"/>
        </p:scale>
        <p:origin x="509"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rag gupta" userId="122f54377f91f753" providerId="LiveId" clId="{9B87A11B-2B7D-4FD3-AA3E-A5F7A45EA46E}"/>
    <pc:docChg chg="undo custSel modSld">
      <pc:chgData name="chirag gupta" userId="122f54377f91f753" providerId="LiveId" clId="{9B87A11B-2B7D-4FD3-AA3E-A5F7A45EA46E}" dt="2025-04-23T16:20:05.098" v="42" actId="20577"/>
      <pc:docMkLst>
        <pc:docMk/>
      </pc:docMkLst>
      <pc:sldChg chg="modSp mod">
        <pc:chgData name="chirag gupta" userId="122f54377f91f753" providerId="LiveId" clId="{9B87A11B-2B7D-4FD3-AA3E-A5F7A45EA46E}" dt="2025-04-23T16:20:05.098" v="42" actId="20577"/>
        <pc:sldMkLst>
          <pc:docMk/>
          <pc:sldMk cId="4043737824" sldId="257"/>
        </pc:sldMkLst>
        <pc:spChg chg="mod">
          <ac:chgData name="chirag gupta" userId="122f54377f91f753" providerId="LiveId" clId="{9B87A11B-2B7D-4FD3-AA3E-A5F7A45EA46E}" dt="2025-04-23T16:20:05.098" v="42" actId="20577"/>
          <ac:spMkLst>
            <pc:docMk/>
            <pc:sldMk cId="4043737824" sldId="257"/>
            <ac:spMk id="2" creationId="{78FD68DA-43BA-4508-8DE2-BA9BB7B2FA5B}"/>
          </ac:spMkLst>
        </pc:spChg>
        <pc:spChg chg="mod">
          <ac:chgData name="chirag gupta" userId="122f54377f91f753" providerId="LiveId" clId="{9B87A11B-2B7D-4FD3-AA3E-A5F7A45EA46E}" dt="2025-04-23T16:18:17.784" v="34" actId="20577"/>
          <ac:spMkLst>
            <pc:docMk/>
            <pc:sldMk cId="4043737824" sldId="257"/>
            <ac:spMk id="3" creationId="{A8E9CFF2-3777-4FF4-A759-8491175B0B7C}"/>
          </ac:spMkLst>
        </pc:spChg>
      </pc:sldChg>
      <pc:sldChg chg="addSp modSp mod">
        <pc:chgData name="chirag gupta" userId="122f54377f91f753" providerId="LiveId" clId="{9B87A11B-2B7D-4FD3-AA3E-A5F7A45EA46E}" dt="2025-04-23T16:18:15.963" v="32" actId="20577"/>
        <pc:sldMkLst>
          <pc:docMk/>
          <pc:sldMk cId="191714609" sldId="258"/>
        </pc:sldMkLst>
        <pc:spChg chg="mod">
          <ac:chgData name="chirag gupta" userId="122f54377f91f753" providerId="LiveId" clId="{9B87A11B-2B7D-4FD3-AA3E-A5F7A45EA46E}" dt="2025-04-23T16:18:15.963" v="32" actId="20577"/>
          <ac:spMkLst>
            <pc:docMk/>
            <pc:sldMk cId="191714609" sldId="258"/>
            <ac:spMk id="2" creationId="{9AB2EA78-AEB3-469B-9025-3B17201A457B}"/>
          </ac:spMkLst>
        </pc:spChg>
        <pc:spChg chg="add">
          <ac:chgData name="chirag gupta" userId="122f54377f91f753" providerId="LiveId" clId="{9B87A11B-2B7D-4FD3-AA3E-A5F7A45EA46E}" dt="2025-04-23T16:18:00.592" v="27"/>
          <ac:spMkLst>
            <pc:docMk/>
            <pc:sldMk cId="191714609" sldId="258"/>
            <ac:spMk id="4" creationId="{7D9A208C-E972-CE0E-7C94-B54843E5C025}"/>
          </ac:spMkLst>
        </pc:spChg>
        <pc:spChg chg="add">
          <ac:chgData name="chirag gupta" userId="122f54377f91f753" providerId="LiveId" clId="{9B87A11B-2B7D-4FD3-AA3E-A5F7A45EA46E}" dt="2025-04-23T16:18:04.201" v="29"/>
          <ac:spMkLst>
            <pc:docMk/>
            <pc:sldMk cId="191714609" sldId="258"/>
            <ac:spMk id="5" creationId="{1D59768B-D7AB-7CB3-30DA-4827207128BB}"/>
          </ac:spMkLst>
        </pc:spChg>
      </pc:sldChg>
    </pc:docChg>
  </pc:docChgLst>
  <pc:docChgLst>
    <pc:chgData name="chirag gupta" userId="122f54377f91f753" providerId="LiveId" clId="{58A20A83-79AD-4AAD-9A76-275852540E81}"/>
    <pc:docChg chg="custSel modSld">
      <pc:chgData name="chirag gupta" userId="122f54377f91f753" providerId="LiveId" clId="{58A20A83-79AD-4AAD-9A76-275852540E81}" dt="2024-11-26T07:20:27.863" v="21" actId="20577"/>
      <pc:docMkLst>
        <pc:docMk/>
      </pc:docMkLst>
      <pc:sldChg chg="modSp mod">
        <pc:chgData name="chirag gupta" userId="122f54377f91f753" providerId="LiveId" clId="{58A20A83-79AD-4AAD-9A76-275852540E81}" dt="2024-11-26T07:20:27.863" v="21" actId="20577"/>
        <pc:sldMkLst>
          <pc:docMk/>
          <pc:sldMk cId="4043737824" sldId="257"/>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184DA70-C731-4C70-880D-CCD4705E623C}" type="datetime1">
              <a:rPr lang="en-US" smtClean="0"/>
              <a:t>4/23/2025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6773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88155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86298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23687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4/23/2025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584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0525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4/23/2025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55242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21428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77685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86211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883765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87761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0327203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93541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722832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868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0350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2D6E202-B606-4609-B914-27C9371A1F6D}" type="datetime1">
              <a:rPr lang="en-US" smtClean="0"/>
              <a:t>4/23/2025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444573062"/>
      </p:ext>
    </p:extLst>
  </p:cSld>
  <p:clrMap bg1="dk1" tx1="lt1" bg2="dk2" tx2="lt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52451" y="130629"/>
            <a:ext cx="10990620" cy="1119674"/>
          </a:xfrm>
        </p:spPr>
        <p:txBody>
          <a:bodyPr>
            <a:normAutofit/>
          </a:bodyPr>
          <a:lstStyle/>
          <a:p>
            <a:pPr algn="ctr"/>
            <a:r>
              <a:rPr lang="en-US"/>
              <a:t>MINOR </a:t>
            </a:r>
            <a:r>
              <a:rPr lang="en-US" dirty="0"/>
              <a:t>project</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295275" y="1491615"/>
            <a:ext cx="11435276" cy="4766309"/>
          </a:xfrm>
        </p:spPr>
        <p:txBody>
          <a:bodyPr>
            <a:normAutofit/>
          </a:bodyPr>
          <a:lstStyle/>
          <a:p>
            <a:pPr algn="ctr"/>
            <a:r>
              <a:rPr lang="en-US" sz="4800" dirty="0">
                <a:solidFill>
                  <a:schemeClr val="tx1">
                    <a:lumMod val="85000"/>
                    <a:lumOff val="15000"/>
                  </a:schemeClr>
                </a:solidFill>
              </a:rPr>
              <a:t>Presentation on </a:t>
            </a:r>
          </a:p>
          <a:p>
            <a:pPr algn="ctr"/>
            <a:r>
              <a:rPr lang="en-US" sz="4800" dirty="0">
                <a:solidFill>
                  <a:schemeClr val="tx1">
                    <a:lumMod val="85000"/>
                    <a:lumOff val="15000"/>
                  </a:schemeClr>
                </a:solidFill>
              </a:rPr>
              <a:t> quick bill</a:t>
            </a:r>
            <a:endParaRPr lang="en-US" sz="5400" dirty="0">
              <a:solidFill>
                <a:schemeClr val="tx1">
                  <a:lumMod val="85000"/>
                  <a:lumOff val="15000"/>
                </a:schemeClr>
              </a:solidFill>
            </a:endParaRPr>
          </a:p>
          <a:p>
            <a:pPr algn="r"/>
            <a:endParaRPr lang="en-US" sz="5400" dirty="0">
              <a:solidFill>
                <a:schemeClr val="tx1">
                  <a:lumMod val="85000"/>
                  <a:lumOff val="15000"/>
                </a:schemeClr>
              </a:solidFill>
            </a:endParaRPr>
          </a:p>
          <a:p>
            <a:pPr algn="r"/>
            <a:r>
              <a:rPr lang="en-US" dirty="0">
                <a:solidFill>
                  <a:schemeClr val="tx1">
                    <a:lumMod val="85000"/>
                    <a:lumOff val="15000"/>
                  </a:schemeClr>
                </a:solidFill>
              </a:rPr>
              <a:t>SUBMITTED BY- CHIRAG GUPTA(220935106074)</a:t>
            </a:r>
          </a:p>
          <a:p>
            <a:pPr algn="r"/>
            <a:r>
              <a:rPr lang="en-US" dirty="0">
                <a:solidFill>
                  <a:schemeClr val="tx1">
                    <a:lumMod val="85000"/>
                    <a:lumOff val="15000"/>
                  </a:schemeClr>
                </a:solidFill>
              </a:rPr>
              <a:t>UNDER THE GUIDANCE OF - Mr. Surya Saxena Sir</a:t>
            </a:r>
          </a:p>
          <a:p>
            <a:r>
              <a:rPr lang="en-US" dirty="0">
                <a:solidFill>
                  <a:schemeClr val="tx1">
                    <a:lumMod val="85000"/>
                    <a:lumOff val="15000"/>
                  </a:schemeClr>
                </a:solidFill>
              </a:rPr>
              <a:t>                   </a:t>
            </a: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2205134" y="1371600"/>
            <a:ext cx="9777316" cy="4867275"/>
          </a:xfrm>
        </p:spPr>
        <p:txBody>
          <a:bodyPr anchor="ctr">
            <a:noAutofit/>
          </a:bodyPr>
          <a:lstStyle/>
          <a:p>
            <a:br>
              <a:rPr lang="en-US" sz="2400" dirty="0"/>
            </a:br>
            <a:r>
              <a:rPr lang="en-US" sz="2400" dirty="0"/>
              <a:t>The </a:t>
            </a:r>
            <a:r>
              <a:rPr lang="en-US" sz="2400" b="1" dirty="0"/>
              <a:t>Supermarket Management System</a:t>
            </a:r>
            <a:r>
              <a:rPr lang="en-US" sz="2400" dirty="0"/>
              <a:t> is a C++ based console application designed to manage supermarket inventory, transactions, and customer interactions. It allows administrators to </a:t>
            </a:r>
            <a:r>
              <a:rPr lang="en-US" sz="2400" b="1" dirty="0"/>
              <a:t>add</a:t>
            </a:r>
            <a:r>
              <a:rPr lang="en-US" sz="2400" dirty="0"/>
              <a:t>, </a:t>
            </a:r>
            <a:r>
              <a:rPr lang="en-US" sz="2400" b="1" dirty="0"/>
              <a:t>edit</a:t>
            </a:r>
            <a:r>
              <a:rPr lang="en-US" sz="2400" dirty="0"/>
              <a:t>, and </a:t>
            </a:r>
            <a:r>
              <a:rPr lang="en-US" sz="2400" b="1" dirty="0"/>
              <a:t>delete</a:t>
            </a:r>
            <a:r>
              <a:rPr lang="en-US" sz="2400" dirty="0"/>
              <a:t> products, while buyers can </a:t>
            </a:r>
            <a:r>
              <a:rPr lang="en-US" sz="2400" b="1" dirty="0"/>
              <a:t>purchase</a:t>
            </a:r>
            <a:r>
              <a:rPr lang="en-US" sz="2400" dirty="0"/>
              <a:t> items, </a:t>
            </a:r>
            <a:r>
              <a:rPr lang="en-US" sz="2400" b="1" dirty="0"/>
              <a:t>request refunds</a:t>
            </a:r>
            <a:r>
              <a:rPr lang="en-US" sz="2400" dirty="0"/>
              <a:t>, and opt for </a:t>
            </a:r>
            <a:r>
              <a:rPr lang="en-US" sz="2400" b="1" dirty="0"/>
              <a:t>premium memberships</a:t>
            </a:r>
            <a:r>
              <a:rPr lang="en-US" sz="2400" dirty="0"/>
              <a:t> for extra discounts. The system tracks </a:t>
            </a:r>
            <a:r>
              <a:rPr lang="en-US" sz="2400" b="1" dirty="0"/>
              <a:t>product details</a:t>
            </a:r>
            <a:r>
              <a:rPr lang="en-US" sz="2400" dirty="0"/>
              <a:t> and records </a:t>
            </a:r>
            <a:r>
              <a:rPr lang="en-US" sz="2400" b="1" dirty="0"/>
              <a:t>purchase/return transactions</a:t>
            </a:r>
            <a:r>
              <a:rPr lang="en-US" sz="2400" dirty="0"/>
              <a:t> in text files, ensuring data persistence. It also generates </a:t>
            </a:r>
            <a:r>
              <a:rPr lang="en-US" sz="2400" b="1" dirty="0"/>
              <a:t>detailed receipts</a:t>
            </a:r>
            <a:r>
              <a:rPr lang="en-US" sz="2400" dirty="0"/>
              <a:t> with discounts applied. The project provides practical experience in </a:t>
            </a:r>
            <a:r>
              <a:rPr lang="en-US" sz="2400" b="1" dirty="0"/>
              <a:t>file handling</a:t>
            </a:r>
            <a:r>
              <a:rPr lang="en-US" sz="2400" dirty="0"/>
              <a:t>, </a:t>
            </a:r>
            <a:r>
              <a:rPr lang="en-US" sz="2400" b="1" dirty="0"/>
              <a:t>object-oriented programming</a:t>
            </a:r>
            <a:r>
              <a:rPr lang="en-US" sz="2400" dirty="0"/>
              <a:t>, and </a:t>
            </a:r>
            <a:r>
              <a:rPr lang="en-US" sz="2400" b="1" dirty="0"/>
              <a:t>transaction management</a:t>
            </a:r>
            <a:r>
              <a:rPr lang="en-US" sz="2400" dirty="0"/>
              <a:t>, offering potential for future expansions like database integration and GUI development.</a:t>
            </a:r>
            <a:br>
              <a:rPr lang="en-US" sz="2400" dirty="0"/>
            </a:br>
            <a:endParaRPr lang="en-US" sz="2400" i="1" dirty="0">
              <a:solidFill>
                <a:srgbClr val="FFFFFF"/>
              </a:solidFill>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342900"/>
            <a:ext cx="10058400" cy="1028700"/>
          </a:xfrm>
        </p:spPr>
        <p:txBody>
          <a:bodyPr>
            <a:noAutofit/>
          </a:bodyPr>
          <a:lstStyle/>
          <a:p>
            <a:pPr algn="ctr"/>
            <a:r>
              <a:rPr lang="en-US" sz="6000" dirty="0">
                <a:solidFill>
                  <a:srgbClr val="FFFFFF"/>
                </a:solidFill>
              </a:rPr>
              <a:t> about the project</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F4A56-3163-070A-705A-66BDA6F4A994}"/>
              </a:ext>
            </a:extLst>
          </p:cNvPr>
          <p:cNvSpPr>
            <a:spLocks noGrp="1"/>
          </p:cNvSpPr>
          <p:nvPr>
            <p:ph type="title"/>
          </p:nvPr>
        </p:nvSpPr>
        <p:spPr>
          <a:xfrm>
            <a:off x="1141413" y="206166"/>
            <a:ext cx="9905998" cy="1374215"/>
          </a:xfrm>
        </p:spPr>
        <p:txBody>
          <a:bodyPr>
            <a:normAutofit/>
          </a:bodyPr>
          <a:lstStyle/>
          <a:p>
            <a:pPr algn="ctr"/>
            <a:r>
              <a:rPr lang="en-US" sz="6000" dirty="0"/>
              <a:t>features</a:t>
            </a:r>
            <a:endParaRPr lang="en-IN" sz="6000" dirty="0"/>
          </a:p>
        </p:txBody>
      </p:sp>
      <p:sp>
        <p:nvSpPr>
          <p:cNvPr id="4" name="Rectangle 1">
            <a:extLst>
              <a:ext uri="{FF2B5EF4-FFF2-40B4-BE49-F238E27FC236}">
                <a16:creationId xmlns:a16="http://schemas.microsoft.com/office/drawing/2014/main" id="{21DA9B9D-62FB-4D54-C778-5555D0E3F677}"/>
              </a:ext>
            </a:extLst>
          </p:cNvPr>
          <p:cNvSpPr>
            <a:spLocks noGrp="1" noChangeArrowheads="1"/>
          </p:cNvSpPr>
          <p:nvPr>
            <p:ph idx="1"/>
          </p:nvPr>
        </p:nvSpPr>
        <p:spPr bwMode="auto">
          <a:xfrm>
            <a:off x="1141412" y="1580381"/>
            <a:ext cx="10298113" cy="4879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Supermarket Management System</a:t>
            </a:r>
            <a:r>
              <a:rPr kumimoji="0" lang="en-US" altLang="en-US" sz="2100" b="0" i="0" u="sng" strike="noStrike" cap="none" normalizeH="0" baseline="0" dirty="0">
                <a:ln>
                  <a:noFill/>
                </a:ln>
                <a:solidFill>
                  <a:schemeClr val="tx1"/>
                </a:solidFill>
                <a:effectLst/>
                <a:latin typeface="Arial" panose="020B0604020202020204" pitchFamily="34" charset="0"/>
              </a:rPr>
              <a:t> </a:t>
            </a:r>
            <a:r>
              <a:rPr kumimoji="0" lang="en-US" altLang="en-US" sz="2100" b="0" i="0" u="none" strike="noStrike" cap="none" normalizeH="0" baseline="0" dirty="0">
                <a:ln>
                  <a:noFill/>
                </a:ln>
                <a:solidFill>
                  <a:schemeClr val="tx1"/>
                </a:solidFill>
                <a:effectLst/>
                <a:latin typeface="Arial" panose="020B0604020202020204" pitchFamily="34" charset="0"/>
              </a:rPr>
              <a:t>in C++ with features for both administrators and buyers.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Administrator Features</a:t>
            </a:r>
            <a:r>
              <a:rPr kumimoji="0" lang="en-US" altLang="en-US" sz="2100" b="0" i="0" u="none" strike="noStrike" cap="none" normalizeH="0" baseline="0" dirty="0">
                <a:ln>
                  <a:noFill/>
                </a:ln>
                <a:solidFill>
                  <a:schemeClr val="tx1"/>
                </a:solidFill>
                <a:effectLst/>
                <a:latin typeface="Arial" panose="020B0604020202020204" pitchFamily="34" charset="0"/>
              </a:rPr>
              <a:t>: Add, edit, or delete products from the catalog.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Buyer Features</a:t>
            </a:r>
            <a:r>
              <a:rPr kumimoji="0" lang="en-US" altLang="en-US" sz="2100" b="0" i="0" u="none" strike="noStrike" cap="none" normalizeH="0" baseline="0" dirty="0">
                <a:ln>
                  <a:noFill/>
                </a:ln>
                <a:solidFill>
                  <a:schemeClr val="tx1"/>
                </a:solidFill>
                <a:effectLst/>
                <a:latin typeface="Arial" panose="020B0604020202020204" pitchFamily="34" charset="0"/>
              </a:rPr>
              <a:t>: Make purchases, request refunds, and become a premium member.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Premium Membership</a:t>
            </a:r>
            <a:r>
              <a:rPr kumimoji="0" lang="en-US" altLang="en-US" sz="2100" b="0" i="0" u="none" strike="noStrike" cap="none" normalizeH="0" baseline="0" dirty="0">
                <a:ln>
                  <a:noFill/>
                </a:ln>
                <a:solidFill>
                  <a:schemeClr val="tx1"/>
                </a:solidFill>
                <a:effectLst/>
                <a:latin typeface="Arial" panose="020B0604020202020204" pitchFamily="34" charset="0"/>
              </a:rPr>
              <a:t>: Provides a 5% discount on products.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Transaction Handling</a:t>
            </a:r>
            <a:r>
              <a:rPr kumimoji="0" lang="en-US" altLang="en-US" sz="2100" b="0" i="0" u="none" strike="noStrike" cap="none" normalizeH="0" baseline="0" dirty="0">
                <a:ln>
                  <a:noFill/>
                </a:ln>
                <a:solidFill>
                  <a:schemeClr val="tx1"/>
                </a:solidFill>
                <a:effectLst/>
                <a:latin typeface="Arial" panose="020B0604020202020204" pitchFamily="34" charset="0"/>
              </a:rPr>
              <a:t>: Tracks purchases and refunds, generates detailed receipts.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File Handling</a:t>
            </a:r>
            <a:r>
              <a:rPr kumimoji="0" lang="en-US" altLang="en-US" sz="2100" b="0" i="0" u="none" strike="noStrike" cap="none" normalizeH="0" baseline="0" dirty="0">
                <a:ln>
                  <a:noFill/>
                </a:ln>
                <a:solidFill>
                  <a:schemeClr val="tx1"/>
                </a:solidFill>
                <a:effectLst/>
                <a:latin typeface="Arial" panose="020B0604020202020204" pitchFamily="34" charset="0"/>
              </a:rPr>
              <a:t>: Saves user data, product catalog, and transaction records to files.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Discounts</a:t>
            </a:r>
            <a:r>
              <a:rPr kumimoji="0" lang="en-US" altLang="en-US" sz="2100" b="0" i="0" u="none" strike="noStrike" cap="none" normalizeH="0" baseline="0" dirty="0">
                <a:ln>
                  <a:noFill/>
                </a:ln>
                <a:solidFill>
                  <a:schemeClr val="tx1"/>
                </a:solidFill>
                <a:effectLst/>
                <a:latin typeface="Arial" panose="020B0604020202020204" pitchFamily="34" charset="0"/>
              </a:rPr>
              <a:t>: Standard discounts and additional discounts for premium members.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1" i="0" u="sng" strike="noStrike" cap="none" normalizeH="0" baseline="0" dirty="0">
                <a:ln>
                  <a:noFill/>
                </a:ln>
                <a:solidFill>
                  <a:schemeClr val="tx1"/>
                </a:solidFill>
                <a:effectLst/>
                <a:latin typeface="Arial" panose="020B0604020202020204" pitchFamily="34" charset="0"/>
              </a:rPr>
              <a:t>User Interaction</a:t>
            </a:r>
            <a:r>
              <a:rPr kumimoji="0" lang="en-US" altLang="en-US" sz="2100" b="0" i="0" u="none" strike="noStrike" cap="none" normalizeH="0" baseline="0" dirty="0">
                <a:ln>
                  <a:noFill/>
                </a:ln>
                <a:solidFill>
                  <a:schemeClr val="tx1"/>
                </a:solidFill>
                <a:effectLst/>
                <a:latin typeface="Arial" panose="020B0604020202020204" pitchFamily="34" charset="0"/>
              </a:rPr>
              <a:t>: Console-based interface for both admin and buyer operations. </a:t>
            </a:r>
          </a:p>
        </p:txBody>
      </p:sp>
    </p:spTree>
    <p:extLst>
      <p:ext uri="{BB962C8B-B14F-4D97-AF65-F5344CB8AC3E}">
        <p14:creationId xmlns:p14="http://schemas.microsoft.com/office/powerpoint/2010/main" val="3501281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79C8EC-B377-4FAC-A45D-21238C17A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850D8-C925-80BA-9F5C-A17BA3BEABE0}"/>
              </a:ext>
            </a:extLst>
          </p:cNvPr>
          <p:cNvSpPr>
            <a:spLocks noGrp="1"/>
          </p:cNvSpPr>
          <p:nvPr>
            <p:ph type="title"/>
          </p:nvPr>
        </p:nvSpPr>
        <p:spPr>
          <a:noFill/>
        </p:spPr>
        <p:txBody>
          <a:bodyPr>
            <a:noAutofit/>
          </a:bodyPr>
          <a:lstStyle/>
          <a:p>
            <a:pPr algn="ctr"/>
            <a:r>
              <a:rPr lang="en-US" sz="6000" b="1" dirty="0"/>
              <a:t>Process Overview</a:t>
            </a:r>
            <a:br>
              <a:rPr lang="en-US" sz="6000" b="1" dirty="0"/>
            </a:br>
            <a:endParaRPr lang="en-IN" sz="6000" dirty="0"/>
          </a:p>
        </p:txBody>
      </p:sp>
      <p:sp>
        <p:nvSpPr>
          <p:cNvPr id="3" name="Content Placeholder 2">
            <a:extLst>
              <a:ext uri="{FF2B5EF4-FFF2-40B4-BE49-F238E27FC236}">
                <a16:creationId xmlns:a16="http://schemas.microsoft.com/office/drawing/2014/main" id="{2752A89D-6728-9855-3EBB-51079B9FE01E}"/>
              </a:ext>
            </a:extLst>
          </p:cNvPr>
          <p:cNvSpPr>
            <a:spLocks noGrp="1"/>
          </p:cNvSpPr>
          <p:nvPr>
            <p:ph idx="1"/>
          </p:nvPr>
        </p:nvSpPr>
        <p:spPr>
          <a:xfrm>
            <a:off x="1141412" y="1628775"/>
            <a:ext cx="9905999" cy="4162426"/>
          </a:xfrm>
          <a:noFill/>
        </p:spPr>
        <p:txBody>
          <a:bodyPr>
            <a:noAutofit/>
          </a:bodyPr>
          <a:lstStyle/>
          <a:p>
            <a:pPr>
              <a:buFont typeface="+mj-lt"/>
              <a:buAutoNum type="arabicPeriod"/>
            </a:pPr>
            <a:r>
              <a:rPr lang="en-US" sz="1800" b="1" dirty="0"/>
              <a:t>Login:</a:t>
            </a:r>
            <a:r>
              <a:rPr lang="en-US" sz="1800" dirty="0"/>
              <a:t> The cashier logs into the system to start the day.</a:t>
            </a:r>
          </a:p>
          <a:p>
            <a:pPr>
              <a:buFont typeface="+mj-lt"/>
              <a:buAutoNum type="arabicPeriod"/>
            </a:pPr>
            <a:r>
              <a:rPr lang="en-US" sz="1800" b="1" dirty="0"/>
              <a:t>Product Search and Cart Management:</a:t>
            </a:r>
            <a:r>
              <a:rPr lang="en-US" sz="1800" dirty="0"/>
              <a:t> The cashier searches for products, adds them to the cart, and modifies the cart as needed.</a:t>
            </a:r>
          </a:p>
          <a:p>
            <a:pPr>
              <a:buFont typeface="+mj-lt"/>
              <a:buAutoNum type="arabicPeriod"/>
            </a:pPr>
            <a:r>
              <a:rPr lang="en-US" sz="1800" b="1" dirty="0"/>
              <a:t>Checkout:</a:t>
            </a:r>
            <a:r>
              <a:rPr lang="en-US" sz="1800" dirty="0"/>
              <a:t> The cashier completes the transaction by processing payments and generating receipts.</a:t>
            </a:r>
          </a:p>
          <a:p>
            <a:pPr>
              <a:buFont typeface="+mj-lt"/>
              <a:buAutoNum type="arabicPeriod"/>
            </a:pPr>
            <a:r>
              <a:rPr lang="en-US" sz="1800" b="1" dirty="0"/>
              <a:t>Inventory Updates:</a:t>
            </a:r>
            <a:r>
              <a:rPr lang="en-US" sz="1800" dirty="0"/>
              <a:t> Stock levels are updated after each sale or return.</a:t>
            </a:r>
          </a:p>
          <a:p>
            <a:pPr>
              <a:buFont typeface="+mj-lt"/>
              <a:buAutoNum type="arabicPeriod"/>
            </a:pPr>
            <a:r>
              <a:rPr lang="en-US" sz="1800" b="1" dirty="0"/>
              <a:t>Return Handling:</a:t>
            </a:r>
            <a:r>
              <a:rPr lang="en-US" sz="1800" dirty="0"/>
              <a:t> The cashier processes product returns and issues refunds.</a:t>
            </a:r>
          </a:p>
          <a:p>
            <a:pPr>
              <a:buFont typeface="+mj-lt"/>
              <a:buAutoNum type="arabicPeriod"/>
            </a:pPr>
            <a:r>
              <a:rPr lang="en-US" sz="1800" b="1" dirty="0"/>
              <a:t>Transaction Reporting:</a:t>
            </a:r>
            <a:r>
              <a:rPr lang="en-US" sz="1800" dirty="0"/>
              <a:t> Transaction history is logged for record-keeping, and reports are generated.</a:t>
            </a:r>
          </a:p>
          <a:p>
            <a:pPr>
              <a:buFont typeface="+mj-lt"/>
              <a:buAutoNum type="arabicPeriod"/>
            </a:pPr>
            <a:r>
              <a:rPr lang="en-US" sz="1800" b="1" dirty="0"/>
              <a:t>Product Management (Optional):</a:t>
            </a:r>
            <a:r>
              <a:rPr lang="en-US" sz="1800" dirty="0"/>
              <a:t> The cashier may edit product details, depending on system permissions.</a:t>
            </a:r>
          </a:p>
          <a:p>
            <a:pPr>
              <a:buFont typeface="+mj-lt"/>
              <a:buAutoNum type="arabicPeriod"/>
            </a:pPr>
            <a:r>
              <a:rPr lang="en-US" sz="1800" b="1" dirty="0"/>
              <a:t>Logout:</a:t>
            </a:r>
            <a:r>
              <a:rPr lang="en-US" sz="1800" dirty="0"/>
              <a:t> At the end of the shift, the cashier logs out.</a:t>
            </a:r>
          </a:p>
          <a:p>
            <a:endParaRPr lang="en-IN" sz="1800" dirty="0"/>
          </a:p>
        </p:txBody>
      </p:sp>
    </p:spTree>
    <p:extLst>
      <p:ext uri="{BB962C8B-B14F-4D97-AF65-F5344CB8AC3E}">
        <p14:creationId xmlns:p14="http://schemas.microsoft.com/office/powerpoint/2010/main" val="744007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A0953-891F-32DE-A646-4C552819C6B0}"/>
              </a:ext>
            </a:extLst>
          </p:cNvPr>
          <p:cNvSpPr>
            <a:spLocks noGrp="1"/>
          </p:cNvSpPr>
          <p:nvPr>
            <p:ph type="title"/>
          </p:nvPr>
        </p:nvSpPr>
        <p:spPr/>
        <p:txBody>
          <a:bodyPr>
            <a:normAutofit/>
          </a:bodyPr>
          <a:lstStyle/>
          <a:p>
            <a:pPr algn="ctr"/>
            <a:r>
              <a:rPr lang="en-US" sz="6000" dirty="0"/>
              <a:t>Thank you</a:t>
            </a:r>
            <a:endParaRPr lang="en-IN" sz="6000" dirty="0"/>
          </a:p>
        </p:txBody>
      </p:sp>
      <p:sp>
        <p:nvSpPr>
          <p:cNvPr id="3" name="Content Placeholder 2">
            <a:extLst>
              <a:ext uri="{FF2B5EF4-FFF2-40B4-BE49-F238E27FC236}">
                <a16:creationId xmlns:a16="http://schemas.microsoft.com/office/drawing/2014/main" id="{80DFE646-411F-B339-6D5A-52AEA08FB131}"/>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1865191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TM04033919[[fn=Circuit]]</Template>
  <TotalTime>2775</TotalTime>
  <Words>374</Words>
  <Application>Microsoft Office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Tw Cen MT</vt:lpstr>
      <vt:lpstr>Circuit</vt:lpstr>
      <vt:lpstr>MINOR project</vt:lpstr>
      <vt:lpstr> The Supermarket Management System is a C++ based console application designed to manage supermarket inventory, transactions, and customer interactions. It allows administrators to add, edit, and delete products, while buyers can purchase items, request refunds, and opt for premium memberships for extra discounts. The system tracks product details and records purchase/return transactions in text files, ensuring data persistence. It also generates detailed receipts with discounts applied. The project provides practical experience in file handling, object-oriented programming, and transaction management, offering potential for future expansions like database integration and GUI development. </vt:lpstr>
      <vt:lpstr>features</vt:lpstr>
      <vt:lpstr>Process Overview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chirag gupta</dc:creator>
  <cp:lastModifiedBy>chirag gupta</cp:lastModifiedBy>
  <cp:revision>1</cp:revision>
  <dcterms:created xsi:type="dcterms:W3CDTF">2024-11-23T20:00:32Z</dcterms:created>
  <dcterms:modified xsi:type="dcterms:W3CDTF">2025-04-23T16:20:06Z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